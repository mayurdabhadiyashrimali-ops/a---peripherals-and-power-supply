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20807363" cy="9072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41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0921" y="1484793"/>
            <a:ext cx="15605522" cy="3158596"/>
          </a:xfrm>
        </p:spPr>
        <p:txBody>
          <a:bodyPr anchor="b"/>
          <a:lstStyle>
            <a:lvl1pPr algn="ctr">
              <a:defRPr sz="79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0921" y="4765197"/>
            <a:ext cx="15605522" cy="2190435"/>
          </a:xfrm>
        </p:spPr>
        <p:txBody>
          <a:bodyPr/>
          <a:lstStyle>
            <a:lvl1pPr marL="0" indent="0" algn="ctr">
              <a:buNone/>
              <a:defRPr sz="3175"/>
            </a:lvl1pPr>
            <a:lvl2pPr marL="604830" indent="0" algn="ctr">
              <a:buNone/>
              <a:defRPr sz="2646"/>
            </a:lvl2pPr>
            <a:lvl3pPr marL="1209660" indent="0" algn="ctr">
              <a:buNone/>
              <a:defRPr sz="2381"/>
            </a:lvl3pPr>
            <a:lvl4pPr marL="1814490" indent="0" algn="ctr">
              <a:buNone/>
              <a:defRPr sz="2117"/>
            </a:lvl4pPr>
            <a:lvl5pPr marL="2419320" indent="0" algn="ctr">
              <a:buNone/>
              <a:defRPr sz="2117"/>
            </a:lvl5pPr>
            <a:lvl6pPr marL="3024149" indent="0" algn="ctr">
              <a:buNone/>
              <a:defRPr sz="2117"/>
            </a:lvl6pPr>
            <a:lvl7pPr marL="3628979" indent="0" algn="ctr">
              <a:buNone/>
              <a:defRPr sz="2117"/>
            </a:lvl7pPr>
            <a:lvl8pPr marL="4233809" indent="0" algn="ctr">
              <a:buNone/>
              <a:defRPr sz="2117"/>
            </a:lvl8pPr>
            <a:lvl9pPr marL="4838639" indent="0" algn="ctr">
              <a:buNone/>
              <a:defRPr sz="21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0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35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669" y="2261841"/>
            <a:ext cx="17946351" cy="3773934"/>
          </a:xfrm>
        </p:spPr>
        <p:txBody>
          <a:bodyPr anchor="b"/>
          <a:lstStyle>
            <a:lvl1pPr>
              <a:defRPr sz="79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9669" y="6071478"/>
            <a:ext cx="17946351" cy="1984622"/>
          </a:xfrm>
        </p:spPr>
        <p:txBody>
          <a:bodyPr/>
          <a:lstStyle>
            <a:lvl1pPr marL="0" indent="0">
              <a:buNone/>
              <a:defRPr sz="3175">
                <a:solidFill>
                  <a:schemeClr val="tx1">
                    <a:tint val="82000"/>
                  </a:schemeClr>
                </a:solidFill>
              </a:defRPr>
            </a:lvl1pPr>
            <a:lvl2pPr marL="60483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2pPr>
            <a:lvl3pPr marL="1209660" indent="0">
              <a:buNone/>
              <a:defRPr sz="2381">
                <a:solidFill>
                  <a:schemeClr val="tx1">
                    <a:tint val="82000"/>
                  </a:schemeClr>
                </a:solidFill>
              </a:defRPr>
            </a:lvl3pPr>
            <a:lvl4pPr marL="1814490" indent="0">
              <a:buNone/>
              <a:defRPr sz="2117">
                <a:solidFill>
                  <a:schemeClr val="tx1">
                    <a:tint val="82000"/>
                  </a:schemeClr>
                </a:solidFill>
              </a:defRPr>
            </a:lvl4pPr>
            <a:lvl5pPr marL="2419320" indent="0">
              <a:buNone/>
              <a:defRPr sz="2117">
                <a:solidFill>
                  <a:schemeClr val="tx1">
                    <a:tint val="82000"/>
                  </a:schemeClr>
                </a:solidFill>
              </a:defRPr>
            </a:lvl5pPr>
            <a:lvl6pPr marL="3024149" indent="0">
              <a:buNone/>
              <a:defRPr sz="2117">
                <a:solidFill>
                  <a:schemeClr val="tx1">
                    <a:tint val="82000"/>
                  </a:schemeClr>
                </a:solidFill>
              </a:defRPr>
            </a:lvl6pPr>
            <a:lvl7pPr marL="3628979" indent="0">
              <a:buNone/>
              <a:defRPr sz="2117">
                <a:solidFill>
                  <a:schemeClr val="tx1">
                    <a:tint val="82000"/>
                  </a:schemeClr>
                </a:solidFill>
              </a:defRPr>
            </a:lvl7pPr>
            <a:lvl8pPr marL="4233809" indent="0">
              <a:buNone/>
              <a:defRPr sz="2117">
                <a:solidFill>
                  <a:schemeClr val="tx1">
                    <a:tint val="82000"/>
                  </a:schemeClr>
                </a:solidFill>
              </a:defRPr>
            </a:lvl8pPr>
            <a:lvl9pPr marL="4838639" indent="0">
              <a:buNone/>
              <a:defRPr sz="21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9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0506" y="2415150"/>
            <a:ext cx="8843129" cy="575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33728" y="2415150"/>
            <a:ext cx="8843129" cy="575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55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216" y="483031"/>
            <a:ext cx="17946351" cy="1753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3217" y="2224039"/>
            <a:ext cx="8802489" cy="1089967"/>
          </a:xfrm>
        </p:spPr>
        <p:txBody>
          <a:bodyPr anchor="b"/>
          <a:lstStyle>
            <a:lvl1pPr marL="0" indent="0">
              <a:buNone/>
              <a:defRPr sz="3175" b="1"/>
            </a:lvl1pPr>
            <a:lvl2pPr marL="604830" indent="0">
              <a:buNone/>
              <a:defRPr sz="2646" b="1"/>
            </a:lvl2pPr>
            <a:lvl3pPr marL="1209660" indent="0">
              <a:buNone/>
              <a:defRPr sz="2381" b="1"/>
            </a:lvl3pPr>
            <a:lvl4pPr marL="1814490" indent="0">
              <a:buNone/>
              <a:defRPr sz="2117" b="1"/>
            </a:lvl4pPr>
            <a:lvl5pPr marL="2419320" indent="0">
              <a:buNone/>
              <a:defRPr sz="2117" b="1"/>
            </a:lvl5pPr>
            <a:lvl6pPr marL="3024149" indent="0">
              <a:buNone/>
              <a:defRPr sz="2117" b="1"/>
            </a:lvl6pPr>
            <a:lvl7pPr marL="3628979" indent="0">
              <a:buNone/>
              <a:defRPr sz="2117" b="1"/>
            </a:lvl7pPr>
            <a:lvl8pPr marL="4233809" indent="0">
              <a:buNone/>
              <a:defRPr sz="2117" b="1"/>
            </a:lvl8pPr>
            <a:lvl9pPr marL="4838639" indent="0">
              <a:buNone/>
              <a:defRPr sz="21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3217" y="3314006"/>
            <a:ext cx="8802489" cy="48744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533728" y="2224039"/>
            <a:ext cx="8845839" cy="1089967"/>
          </a:xfrm>
        </p:spPr>
        <p:txBody>
          <a:bodyPr anchor="b"/>
          <a:lstStyle>
            <a:lvl1pPr marL="0" indent="0">
              <a:buNone/>
              <a:defRPr sz="3175" b="1"/>
            </a:lvl1pPr>
            <a:lvl2pPr marL="604830" indent="0">
              <a:buNone/>
              <a:defRPr sz="2646" b="1"/>
            </a:lvl2pPr>
            <a:lvl3pPr marL="1209660" indent="0">
              <a:buNone/>
              <a:defRPr sz="2381" b="1"/>
            </a:lvl3pPr>
            <a:lvl4pPr marL="1814490" indent="0">
              <a:buNone/>
              <a:defRPr sz="2117" b="1"/>
            </a:lvl4pPr>
            <a:lvl5pPr marL="2419320" indent="0">
              <a:buNone/>
              <a:defRPr sz="2117" b="1"/>
            </a:lvl5pPr>
            <a:lvl6pPr marL="3024149" indent="0">
              <a:buNone/>
              <a:defRPr sz="2117" b="1"/>
            </a:lvl6pPr>
            <a:lvl7pPr marL="3628979" indent="0">
              <a:buNone/>
              <a:defRPr sz="2117" b="1"/>
            </a:lvl7pPr>
            <a:lvl8pPr marL="4233809" indent="0">
              <a:buNone/>
              <a:defRPr sz="2117" b="1"/>
            </a:lvl8pPr>
            <a:lvl9pPr marL="4838639" indent="0">
              <a:buNone/>
              <a:defRPr sz="21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533728" y="3314006"/>
            <a:ext cx="8845839" cy="48744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9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2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217" y="604838"/>
            <a:ext cx="6710916" cy="2116931"/>
          </a:xfrm>
        </p:spPr>
        <p:txBody>
          <a:bodyPr anchor="b"/>
          <a:lstStyle>
            <a:lvl1pPr>
              <a:defRPr sz="42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5839" y="1306282"/>
            <a:ext cx="10533728" cy="6447400"/>
          </a:xfrm>
        </p:spPr>
        <p:txBody>
          <a:bodyPr/>
          <a:lstStyle>
            <a:lvl1pPr>
              <a:defRPr sz="4233"/>
            </a:lvl1pPr>
            <a:lvl2pPr>
              <a:defRPr sz="3704"/>
            </a:lvl2pPr>
            <a:lvl3pPr>
              <a:defRPr sz="3175"/>
            </a:lvl3pPr>
            <a:lvl4pPr>
              <a:defRPr sz="2646"/>
            </a:lvl4pPr>
            <a:lvl5pPr>
              <a:defRPr sz="2646"/>
            </a:lvl5pPr>
            <a:lvl6pPr>
              <a:defRPr sz="2646"/>
            </a:lvl6pPr>
            <a:lvl7pPr>
              <a:defRPr sz="2646"/>
            </a:lvl7pPr>
            <a:lvl8pPr>
              <a:defRPr sz="2646"/>
            </a:lvl8pPr>
            <a:lvl9pPr>
              <a:defRPr sz="26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3217" y="2721769"/>
            <a:ext cx="6710916" cy="5042414"/>
          </a:xfrm>
        </p:spPr>
        <p:txBody>
          <a:bodyPr/>
          <a:lstStyle>
            <a:lvl1pPr marL="0" indent="0">
              <a:buNone/>
              <a:defRPr sz="2117"/>
            </a:lvl1pPr>
            <a:lvl2pPr marL="604830" indent="0">
              <a:buNone/>
              <a:defRPr sz="1852"/>
            </a:lvl2pPr>
            <a:lvl3pPr marL="1209660" indent="0">
              <a:buNone/>
              <a:defRPr sz="1587"/>
            </a:lvl3pPr>
            <a:lvl4pPr marL="1814490" indent="0">
              <a:buNone/>
              <a:defRPr sz="1323"/>
            </a:lvl4pPr>
            <a:lvl5pPr marL="2419320" indent="0">
              <a:buNone/>
              <a:defRPr sz="1323"/>
            </a:lvl5pPr>
            <a:lvl6pPr marL="3024149" indent="0">
              <a:buNone/>
              <a:defRPr sz="1323"/>
            </a:lvl6pPr>
            <a:lvl7pPr marL="3628979" indent="0">
              <a:buNone/>
              <a:defRPr sz="1323"/>
            </a:lvl7pPr>
            <a:lvl8pPr marL="4233809" indent="0">
              <a:buNone/>
              <a:defRPr sz="1323"/>
            </a:lvl8pPr>
            <a:lvl9pPr marL="4838639" indent="0">
              <a:buNone/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07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217" y="604838"/>
            <a:ext cx="6710916" cy="2116931"/>
          </a:xfrm>
        </p:spPr>
        <p:txBody>
          <a:bodyPr anchor="b"/>
          <a:lstStyle>
            <a:lvl1pPr>
              <a:defRPr sz="42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45839" y="1306282"/>
            <a:ext cx="10533728" cy="6447400"/>
          </a:xfrm>
        </p:spPr>
        <p:txBody>
          <a:bodyPr anchor="t"/>
          <a:lstStyle>
            <a:lvl1pPr marL="0" indent="0">
              <a:buNone/>
              <a:defRPr sz="4233"/>
            </a:lvl1pPr>
            <a:lvl2pPr marL="604830" indent="0">
              <a:buNone/>
              <a:defRPr sz="3704"/>
            </a:lvl2pPr>
            <a:lvl3pPr marL="1209660" indent="0">
              <a:buNone/>
              <a:defRPr sz="3175"/>
            </a:lvl3pPr>
            <a:lvl4pPr marL="1814490" indent="0">
              <a:buNone/>
              <a:defRPr sz="2646"/>
            </a:lvl4pPr>
            <a:lvl5pPr marL="2419320" indent="0">
              <a:buNone/>
              <a:defRPr sz="2646"/>
            </a:lvl5pPr>
            <a:lvl6pPr marL="3024149" indent="0">
              <a:buNone/>
              <a:defRPr sz="2646"/>
            </a:lvl6pPr>
            <a:lvl7pPr marL="3628979" indent="0">
              <a:buNone/>
              <a:defRPr sz="2646"/>
            </a:lvl7pPr>
            <a:lvl8pPr marL="4233809" indent="0">
              <a:buNone/>
              <a:defRPr sz="2646"/>
            </a:lvl8pPr>
            <a:lvl9pPr marL="4838639" indent="0">
              <a:buNone/>
              <a:defRPr sz="264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3217" y="2721769"/>
            <a:ext cx="6710916" cy="5042414"/>
          </a:xfrm>
        </p:spPr>
        <p:txBody>
          <a:bodyPr/>
          <a:lstStyle>
            <a:lvl1pPr marL="0" indent="0">
              <a:buNone/>
              <a:defRPr sz="2117"/>
            </a:lvl1pPr>
            <a:lvl2pPr marL="604830" indent="0">
              <a:buNone/>
              <a:defRPr sz="1852"/>
            </a:lvl2pPr>
            <a:lvl3pPr marL="1209660" indent="0">
              <a:buNone/>
              <a:defRPr sz="1587"/>
            </a:lvl3pPr>
            <a:lvl4pPr marL="1814490" indent="0">
              <a:buNone/>
              <a:defRPr sz="1323"/>
            </a:lvl4pPr>
            <a:lvl5pPr marL="2419320" indent="0">
              <a:buNone/>
              <a:defRPr sz="1323"/>
            </a:lvl5pPr>
            <a:lvl6pPr marL="3024149" indent="0">
              <a:buNone/>
              <a:defRPr sz="1323"/>
            </a:lvl6pPr>
            <a:lvl7pPr marL="3628979" indent="0">
              <a:buNone/>
              <a:defRPr sz="1323"/>
            </a:lvl7pPr>
            <a:lvl8pPr marL="4233809" indent="0">
              <a:buNone/>
              <a:defRPr sz="1323"/>
            </a:lvl8pPr>
            <a:lvl9pPr marL="4838639" indent="0">
              <a:buNone/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08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757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890269" y="483030"/>
            <a:ext cx="4486588" cy="76885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30506" y="483030"/>
            <a:ext cx="13199671" cy="76885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79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0506" y="483031"/>
            <a:ext cx="17946351" cy="1753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0506" y="2415150"/>
            <a:ext cx="17946351" cy="5756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0506" y="8408922"/>
            <a:ext cx="4681657" cy="483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16023-2379-4549-B0AF-592C40B0672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92439" y="8408922"/>
            <a:ext cx="7022485" cy="483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695200" y="8408922"/>
            <a:ext cx="4681657" cy="483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A0E05-DF4D-473F-B8CF-FC741B9F6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09660" rtl="0" eaLnBrk="1" latinLnBrk="0" hangingPunct="1">
        <a:lnSpc>
          <a:spcPct val="90000"/>
        </a:lnSpc>
        <a:spcBef>
          <a:spcPct val="0"/>
        </a:spcBef>
        <a:buNone/>
        <a:defRPr sz="58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2415" indent="-302415" algn="l" defTabSz="1209660" rtl="0" eaLnBrk="1" latinLnBrk="0" hangingPunct="1">
        <a:lnSpc>
          <a:spcPct val="90000"/>
        </a:lnSpc>
        <a:spcBef>
          <a:spcPts val="1323"/>
        </a:spcBef>
        <a:buFont typeface="Arial" panose="020B0604020202020204" pitchFamily="34" charset="0"/>
        <a:buChar char="•"/>
        <a:defRPr sz="3704" kern="1200">
          <a:solidFill>
            <a:schemeClr val="tx1"/>
          </a:solidFill>
          <a:latin typeface="+mn-lt"/>
          <a:ea typeface="+mn-ea"/>
          <a:cs typeface="+mn-cs"/>
        </a:defRPr>
      </a:lvl1pPr>
      <a:lvl2pPr marL="907245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3175" kern="1200">
          <a:solidFill>
            <a:schemeClr val="tx1"/>
          </a:solidFill>
          <a:latin typeface="+mn-lt"/>
          <a:ea typeface="+mn-ea"/>
          <a:cs typeface="+mn-cs"/>
        </a:defRPr>
      </a:lvl2pPr>
      <a:lvl3pPr marL="1512075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3pPr>
      <a:lvl4pPr marL="2116905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4pPr>
      <a:lvl5pPr marL="2721734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5pPr>
      <a:lvl6pPr marL="3326564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6pPr>
      <a:lvl7pPr marL="3931394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7pPr>
      <a:lvl8pPr marL="4536224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8pPr>
      <a:lvl9pPr marL="5141054" indent="-302415" algn="l" defTabSz="1209660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604830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2pPr>
      <a:lvl3pPr marL="1209660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3pPr>
      <a:lvl4pPr marL="1814490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4pPr>
      <a:lvl5pPr marL="2419320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5pPr>
      <a:lvl6pPr marL="3024149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6pPr>
      <a:lvl7pPr marL="3628979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7pPr>
      <a:lvl8pPr marL="4233809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8pPr>
      <a:lvl9pPr marL="4838639" algn="l" defTabSz="1209660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38C03E-C542-9E88-31B5-1D1D5AC82971}"/>
              </a:ext>
            </a:extLst>
          </p:cNvPr>
          <p:cNvSpPr txBox="1"/>
          <p:nvPr/>
        </p:nvSpPr>
        <p:spPr>
          <a:xfrm>
            <a:off x="100207" y="0"/>
            <a:ext cx="20606948" cy="8786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68" b="1" dirty="0">
                <a:highlight>
                  <a:srgbClr val="00FFFF"/>
                </a:highlight>
              </a:rPr>
              <a:t>Basics of SMPS and UPS Systems</a:t>
            </a:r>
          </a:p>
          <a:p>
            <a:pPr>
              <a:buNone/>
            </a:pPr>
            <a:r>
              <a:rPr lang="en-IN" sz="2568" b="1" dirty="0"/>
              <a:t>1. SMPS (Switched Mode Power Supply)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What it is:</a:t>
            </a:r>
            <a:r>
              <a:rPr lang="en-IN" sz="2568" dirty="0"/>
              <a:t> An electronic power supply that incorporates a switching regulator to convert electrical power efficiently from AC mains to regulated low-voltage DC outputs.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How it works:</a:t>
            </a:r>
            <a:r>
              <a:rPr lang="en-IN" sz="2568" dirty="0"/>
              <a:t> It rapidly switches the input voltage at a high frequency (typically tens to hundreds of kHz) using power transistors, enabling the use of much smaller, lighter transformers and achieving high conversion efficiencies (often 80–90%+).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Role in a PC:</a:t>
            </a:r>
            <a:r>
              <a:rPr lang="en-IN" sz="2568" dirty="0"/>
              <a:t> Steps down AC household voltage (220V–240V) and delivers clean, stable DC power rails (+12V, +5V, +3.3V) to internal components like the motherboard, processor, GPU, and storage drives.</a:t>
            </a:r>
          </a:p>
          <a:p>
            <a:pPr>
              <a:buNone/>
            </a:pPr>
            <a:r>
              <a:rPr lang="en-IN" sz="2568" b="1" dirty="0"/>
              <a:t>2. UPS (Uninterruptible Power Supply)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What it is:</a:t>
            </a:r>
            <a:r>
              <a:rPr lang="en-IN" sz="2568" dirty="0"/>
              <a:t> An electrical apparatus that provides emergency backup power to loads when the input power source or mains power fails.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How it works:</a:t>
            </a:r>
            <a:r>
              <a:rPr lang="en-IN" sz="2568" dirty="0"/>
              <a:t> It bridges power disruptions using internal batteries. When mains power is normal, it charges the battery and conditions the power; when a blackout or significant voltage sag occurs, an inverter instantly switches to battery power.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Role:</a:t>
            </a:r>
            <a:r>
              <a:rPr lang="en-IN" sz="2568" dirty="0"/>
              <a:t> Protects sensitive electronics (like desktop computers and servers) from sudden shutdowns, preventing data corruption and hardware damage during power outages.</a:t>
            </a:r>
          </a:p>
          <a:p>
            <a:pPr>
              <a:buNone/>
            </a:pPr>
            <a:r>
              <a:rPr lang="en-IN" sz="2568" b="1" dirty="0"/>
              <a:t>Part 2: Practical – Power Cables and Connectors Identification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ATX 24-Pin Power Connector:</a:t>
            </a:r>
            <a:r>
              <a:rPr lang="en-IN" sz="2568" dirty="0"/>
              <a:t> A large, multi-pin block supplying primary operating voltage to the motherboard.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ATX/EPS 4/8-Pin CPU Power Connector:</a:t>
            </a:r>
            <a:r>
              <a:rPr lang="en-IN" sz="2568" dirty="0"/>
              <a:t> A dedicated connector that supplies auxiliary 12V power directly to the processor socket on the motherboard.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SATA Power Connector:</a:t>
            </a:r>
            <a:r>
              <a:rPr lang="en-IN" sz="2568" dirty="0"/>
              <a:t> A flat, wide, thin connector used to power internal SATA solid-state drives (SSDs), hard disk drives (HDDs), and optical drives.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PCIe 6/8-Pin Power Connector:</a:t>
            </a:r>
            <a:r>
              <a:rPr lang="en-IN" sz="2568" dirty="0"/>
              <a:t> A specialized connector delivering high-current 12V power to dedicated graphics cards (GPUs).</a:t>
            </a:r>
          </a:p>
          <a:p>
            <a:pPr marL="453653" indent="-453653">
              <a:buFont typeface="Arial" panose="020B0604020202020204" pitchFamily="34" charset="0"/>
              <a:buChar char="•"/>
            </a:pPr>
            <a:r>
              <a:rPr lang="en-IN" sz="2568" b="1" dirty="0"/>
              <a:t>Molex Connector:</a:t>
            </a:r>
            <a:r>
              <a:rPr lang="en-IN" sz="2568" dirty="0"/>
              <a:t> A legacy 4-pin cylindrical-pin connector used for older drives, fans, or accessory lighting hubs.</a:t>
            </a:r>
          </a:p>
        </p:txBody>
      </p:sp>
    </p:spTree>
    <p:extLst>
      <p:ext uri="{BB962C8B-B14F-4D97-AF65-F5344CB8AC3E}">
        <p14:creationId xmlns:p14="http://schemas.microsoft.com/office/powerpoint/2010/main" val="3945313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DB7415-D124-B9F4-D5A2-F9A9FD736AA3}"/>
              </a:ext>
            </a:extLst>
          </p:cNvPr>
          <p:cNvSpPr txBox="1"/>
          <p:nvPr/>
        </p:nvSpPr>
        <p:spPr>
          <a:xfrm>
            <a:off x="-1" y="0"/>
            <a:ext cx="20807363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highlight>
                  <a:srgbClr val="FFFF00"/>
                </a:highlight>
              </a:rPr>
              <a:t>Here are 3 devices that use SMPS and 2 devices that use UPS, along with a brief explanation for each:</a:t>
            </a:r>
          </a:p>
          <a:p>
            <a:pPr>
              <a:buNone/>
            </a:pPr>
            <a:endParaRPr lang="en-IN" sz="2800" dirty="0"/>
          </a:p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Devices Using SMPS (Switched Mode Power Supply)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Desktop PC / Workstation:</a:t>
            </a:r>
            <a:r>
              <a:rPr lang="en-IN" sz="2800" dirty="0"/>
              <a:t> Needs an SMPS to efficiently step down household AC voltage and convert it into multiple stable low-voltage DC rails (+12V, +5V, +3.3V) required by internal computer components.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CCTV Security Camera Setup:</a:t>
            </a:r>
            <a:r>
              <a:rPr lang="en-IN" sz="2800" dirty="0"/>
              <a:t> Uses an SMPS to provide continuous, regulated low-voltage DC power to keep security cameras running reliably around the clock.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LED TV / Monitor:</a:t>
            </a:r>
            <a:r>
              <a:rPr lang="en-IN" sz="2800" dirty="0"/>
              <a:t> Requires an SMPS to convert incoming AC mains power into clean direct current to power the display panel and internal logic boards.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Devices Using UPS (Uninterruptible Power Supply)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Desktop Gaming PC / Office Workstation:</a:t>
            </a:r>
            <a:r>
              <a:rPr lang="en-IN" sz="2800" dirty="0"/>
              <a:t> Needs a UPS to provide instant emergency battery backup during sudden power cuts, preventing data loss and hardware damage.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Wi-Fi Router / Optical Network Terminal (ONT):</a:t>
            </a:r>
            <a:r>
              <a:rPr lang="en-IN" sz="2800" dirty="0"/>
              <a:t> Uses a UPS to maintain uninterrupted internet connectivity and keep network devices powered on during power outages.</a:t>
            </a:r>
          </a:p>
        </p:txBody>
      </p:sp>
    </p:spTree>
    <p:extLst>
      <p:ext uri="{BB962C8B-B14F-4D97-AF65-F5344CB8AC3E}">
        <p14:creationId xmlns:p14="http://schemas.microsoft.com/office/powerpoint/2010/main" val="176019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witched Mode Power Supply SMPS Block Diagram &amp; Working">
            <a:extLst>
              <a:ext uri="{FF2B5EF4-FFF2-40B4-BE49-F238E27FC236}">
                <a16:creationId xmlns:a16="http://schemas.microsoft.com/office/drawing/2014/main" id="{D88E928B-AD59-6F7B-4188-B4ED8FDEE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29" y="742042"/>
            <a:ext cx="18839542" cy="786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5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3D2E4F-F0AA-75C6-BBAD-D98E4F3A8242}"/>
              </a:ext>
            </a:extLst>
          </p:cNvPr>
          <p:cNvSpPr txBox="1"/>
          <p:nvPr/>
        </p:nvSpPr>
        <p:spPr>
          <a:xfrm>
            <a:off x="123372" y="166531"/>
            <a:ext cx="139700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Power Connectors Guide</a:t>
            </a:r>
          </a:p>
          <a:p>
            <a:pPr>
              <a:buNone/>
            </a:pP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ATX 24-Pin Motherboard Connector: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Devices Powered:</a:t>
            </a:r>
            <a:r>
              <a:rPr lang="en-IN" sz="2000" dirty="0"/>
              <a:t> The main motherboard circuit board, supplying primary power to the chipset, PCIe slots, and onboard peripherals.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Safety Tip:</a:t>
            </a:r>
            <a:r>
              <a:rPr lang="en-IN" sz="2000" dirty="0"/>
              <a:t> Ensure the power supply is completely unplugged from the wall outlet before connecting or disconnecting, and press down fully until the plastic latch clicks into place.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1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SATA Power Connector: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Devices Powered:</a:t>
            </a:r>
            <a:r>
              <a:rPr lang="en-IN" sz="2000" dirty="0"/>
              <a:t> Internal SATA solid-state drives (SSDs), mechanical hard drives (HDDs), and optical disc drives.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Safety Tip:</a:t>
            </a:r>
            <a:r>
              <a:rPr lang="en-IN" sz="2000" dirty="0"/>
              <a:t> Handle the flat, wide connector carefully and push it straight in without bending the thin metal pins inside the header.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1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Molex Connector: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Devices Powered:</a:t>
            </a:r>
            <a:r>
              <a:rPr lang="en-IN" sz="2000" dirty="0"/>
              <a:t> Legacy peripherals, older IDE hard drives, case cooling fans, or specialized LED lighting hubs.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Safety Tip:</a:t>
            </a:r>
            <a:r>
              <a:rPr lang="en-IN" sz="2000" dirty="0"/>
              <a:t> These connectors fit very tightly; pull firmly on the plastic housing rather than yanking on the individual wires to prevent them from snapping.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PCIe 6/8-Pin Connector: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Devices Powered:</a:t>
            </a:r>
            <a:r>
              <a:rPr lang="en-IN" sz="2000" dirty="0"/>
              <a:t> Dedicated graphics cards (GPUs).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Safety Tip:</a:t>
            </a:r>
            <a:r>
              <a:rPr lang="en-IN" sz="2000" dirty="0"/>
              <a:t> Never force a PCIe power connector into a CPU 8-pin socket (they look similar but have different pin layouts), and always squeeze the release clip when unplugging</a:t>
            </a:r>
            <a:r>
              <a:rPr lang="en-IN" dirty="0"/>
              <a:t>.</a:t>
            </a:r>
          </a:p>
        </p:txBody>
      </p:sp>
      <p:pic>
        <p:nvPicPr>
          <p:cNvPr id="4" name="Picture 3" descr="Amazon.in: Buy Tobo 24-pin ATX Computer PC Power Extension Cable Male to  Female 27cm / 10 Inches (24-pin ATX Computer PC Power Cable)-TD-245TC.  Online ...">
            <a:extLst>
              <a:ext uri="{FF2B5EF4-FFF2-40B4-BE49-F238E27FC236}">
                <a16:creationId xmlns:a16="http://schemas.microsoft.com/office/drawing/2014/main" id="{9335B5A7-555A-1EE5-749D-8AC52864D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7486" y="900218"/>
            <a:ext cx="3867660" cy="1464352"/>
          </a:xfrm>
          <a:prstGeom prst="rect">
            <a:avLst/>
          </a:prstGeom>
        </p:spPr>
      </p:pic>
      <p:pic>
        <p:nvPicPr>
          <p:cNvPr id="5" name="Picture 4" descr="MEIRIYFA 2 Pack SATA 15 Pin Male to 6 Pin Female Slimline Power Adapter Cable for Slimline DVD Drives, SATA Hard Drives : Amazon.in: Computers &amp; Accessories">
            <a:extLst>
              <a:ext uri="{FF2B5EF4-FFF2-40B4-BE49-F238E27FC236}">
                <a16:creationId xmlns:a16="http://schemas.microsoft.com/office/drawing/2014/main" id="{23142FE6-AD2C-A178-05C1-E1D0EFAD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3400" y="2842056"/>
            <a:ext cx="3581799" cy="1676701"/>
          </a:xfrm>
          <a:prstGeom prst="rect">
            <a:avLst/>
          </a:prstGeom>
        </p:spPr>
      </p:pic>
      <p:pic>
        <p:nvPicPr>
          <p:cNvPr id="6" name="Picture 5" descr="IDE Molex 4-pin Plug Cable - 30cm long - The Pi Hut">
            <a:extLst>
              <a:ext uri="{FF2B5EF4-FFF2-40B4-BE49-F238E27FC236}">
                <a16:creationId xmlns:a16="http://schemas.microsoft.com/office/drawing/2014/main" id="{D7D3DB59-2C46-10CA-8DAD-8FA6C2F20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4530" y="4996243"/>
            <a:ext cx="3140669" cy="1676702"/>
          </a:xfrm>
          <a:prstGeom prst="rect">
            <a:avLst/>
          </a:prstGeom>
        </p:spPr>
      </p:pic>
      <p:pic>
        <p:nvPicPr>
          <p:cNvPr id="7" name="Picture 6" descr="Corsair Sleeved (Type 3) (CP-8920111)">
            <a:extLst>
              <a:ext uri="{FF2B5EF4-FFF2-40B4-BE49-F238E27FC236}">
                <a16:creationId xmlns:a16="http://schemas.microsoft.com/office/drawing/2014/main" id="{F483B9C8-D8E3-CE1E-CFB2-9688808C9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8673" y="7194281"/>
            <a:ext cx="3913270" cy="18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0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90D2E4-7A9A-AE1F-1D9A-FC3EFFBD49D6}"/>
              </a:ext>
            </a:extLst>
          </p:cNvPr>
          <p:cNvSpPr txBox="1"/>
          <p:nvPr/>
        </p:nvSpPr>
        <p:spPr>
          <a:xfrm>
            <a:off x="159657" y="203201"/>
            <a:ext cx="20000686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. </a:t>
            </a:r>
            <a:r>
              <a:rPr lang="en-IN" sz="3200" b="1" dirty="0">
                <a:solidFill>
                  <a:schemeClr val="bg1"/>
                </a:solidFill>
                <a:highlight>
                  <a:srgbClr val="000080"/>
                </a:highlight>
              </a:rPr>
              <a:t>Step-by-Step Guide: Connecting SMPS to PC Components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b="1" dirty="0"/>
              <a:t>Mount the SMPS:</a:t>
            </a:r>
            <a:r>
              <a:rPr lang="en-IN" sz="3200" dirty="0"/>
              <a:t> Secure the power supply unit inside the bottom or top chamber of the PC case using its mounting screws.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i="1" dirty="0"/>
              <a:t>Verification:</a:t>
            </a:r>
            <a:r>
              <a:rPr lang="en-IN" sz="3200" dirty="0"/>
              <a:t> Ensure the unit is firmly screwed in and does not wobble.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b="1" dirty="0"/>
              <a:t>Connect the 24-Pin ATX Main Power:</a:t>
            </a:r>
            <a:r>
              <a:rPr lang="en-IN" sz="3200" dirty="0"/>
              <a:t> Take the thick 24-pin cable from the SMPS and plug it firmly into the matching 24-pin power slot on the right edge of the motherboard.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i="1" dirty="0"/>
              <a:t>Verification:</a:t>
            </a:r>
            <a:r>
              <a:rPr lang="en-IN" sz="3200" dirty="0"/>
              <a:t> Check that the plastic security latch on the connector clicks securely into the motherboard socket.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b="1" dirty="0"/>
              <a:t>Connect the CPU Power (EPS 4/8-pin):</a:t>
            </a:r>
            <a:r>
              <a:rPr lang="en-IN" sz="3200" dirty="0"/>
              <a:t> Route the 4-pin or 8-pin CPU power cable from the SMPS to the top-left corner of the motherboard near the processor socket.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i="1" dirty="0"/>
              <a:t>Verification:</a:t>
            </a:r>
            <a:r>
              <a:rPr lang="en-IN" sz="3200" dirty="0"/>
              <a:t> Ensure the clip locks into place to supply stable power to the CPU.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b="1" dirty="0"/>
              <a:t>Connect the Graphics Card (PCIe 6/8-pin):</a:t>
            </a:r>
            <a:r>
              <a:rPr lang="en-IN" sz="3200" dirty="0"/>
              <a:t> Plug the required 6-pin or 8-pin PCIe power cables from the SMPS directly into the power sockets on your dedicated graphics card.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i="1" dirty="0"/>
              <a:t>Verification:</a:t>
            </a:r>
            <a:r>
              <a:rPr lang="en-IN" sz="3200" dirty="0"/>
              <a:t> Verify that the small locking tab clicks and any built-in LED indicators on the GPU glow to show proper power delivery.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b="1" dirty="0"/>
              <a:t>Connect Storage Drives (SATA Power):</a:t>
            </a:r>
            <a:r>
              <a:rPr lang="en-IN" sz="3200" dirty="0"/>
              <a:t> Plug the flat SATA power cables from the SMPS into the power ports on your SSDs or hard drives</a:t>
            </a:r>
          </a:p>
        </p:txBody>
      </p:sp>
    </p:spTree>
    <p:extLst>
      <p:ext uri="{BB962C8B-B14F-4D97-AF65-F5344CB8AC3E}">
        <p14:creationId xmlns:p14="http://schemas.microsoft.com/office/powerpoint/2010/main" val="69987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981</Words>
  <Application>Microsoft Office PowerPoint</Application>
  <PresentationFormat>Custom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shrimali</dc:creator>
  <cp:lastModifiedBy>Mayur shrimali</cp:lastModifiedBy>
  <cp:revision>1</cp:revision>
  <dcterms:created xsi:type="dcterms:W3CDTF">2026-10-14T03:04:55Z</dcterms:created>
  <dcterms:modified xsi:type="dcterms:W3CDTF">2026-10-14T03:26:31Z</dcterms:modified>
</cp:coreProperties>
</file>