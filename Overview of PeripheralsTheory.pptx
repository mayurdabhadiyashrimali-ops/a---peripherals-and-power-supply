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0" d="100"/>
          <a:sy n="70" d="100"/>
        </p:scale>
        <p:origin x="116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3AFCE-BA89-0D7A-12A0-2C8D16A3EF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4404B4-A2DB-CDE2-ABD7-207D6BAF9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40BE7E0-099C-9A48-8E67-EDEB14036ACF}"/>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5" name="Footer Placeholder 4">
            <a:extLst>
              <a:ext uri="{FF2B5EF4-FFF2-40B4-BE49-F238E27FC236}">
                <a16:creationId xmlns:a16="http://schemas.microsoft.com/office/drawing/2014/main" id="{4DC1C59D-6E8F-EFC2-024A-131247E40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6A2294-9784-687A-6377-95A092AB371D}"/>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3795179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3C77A-66B4-1C62-8FCF-941D04C80A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5A508F-F7C1-6C42-9817-388F26B5D7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E9F59-092E-5E62-A057-F17715020E77}"/>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5" name="Footer Placeholder 4">
            <a:extLst>
              <a:ext uri="{FF2B5EF4-FFF2-40B4-BE49-F238E27FC236}">
                <a16:creationId xmlns:a16="http://schemas.microsoft.com/office/drawing/2014/main" id="{23D96F74-1560-876A-019F-B86B47C133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C36EAB-285B-E855-779F-B4AABED670BE}"/>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1502035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C2CF5-0863-8F63-BEDC-239B87DC9C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8EFF7B-E5BF-D4E8-ADE7-D673D431D3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DBB442-E7A1-3DA6-13D6-29806F810E93}"/>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5" name="Footer Placeholder 4">
            <a:extLst>
              <a:ext uri="{FF2B5EF4-FFF2-40B4-BE49-F238E27FC236}">
                <a16:creationId xmlns:a16="http://schemas.microsoft.com/office/drawing/2014/main" id="{4F35F84B-2E27-73A3-D0B8-6D7B5C88AF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2DE3CC-9A90-06F1-3BA6-0C722D416156}"/>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131187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375D7-5C14-957B-3B0E-3D7A1C4528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B4AC78-D38A-7C34-2AF7-D2DD51A38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4D90D4-5DF1-395B-9F5F-481E36D757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968955-3B66-E0A2-D4CD-79A908288CB7}"/>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6" name="Footer Placeholder 5">
            <a:extLst>
              <a:ext uri="{FF2B5EF4-FFF2-40B4-BE49-F238E27FC236}">
                <a16:creationId xmlns:a16="http://schemas.microsoft.com/office/drawing/2014/main" id="{B4F9A32F-EA9B-5503-5E32-CD526B11BA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F04031-51FB-E892-1073-178E5F4CA468}"/>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380405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D297-9F2A-2526-BCC5-64546DB9D2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A48262-4CFC-27CD-93A4-31867EE173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66A2B1-3F32-287D-910C-AF22D0DCA7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C55B01-2909-4FC2-E5F0-E2952EF115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A1A7C7-14FF-B7DB-1C9F-7939B2C7BC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D5CD16-4034-B393-07D0-BCC47EB8AF53}"/>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8" name="Footer Placeholder 7">
            <a:extLst>
              <a:ext uri="{FF2B5EF4-FFF2-40B4-BE49-F238E27FC236}">
                <a16:creationId xmlns:a16="http://schemas.microsoft.com/office/drawing/2014/main" id="{297D8719-FD17-7E6B-20A5-F124C582EC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8BAD8C-D720-EB64-5399-AD8A0F419B33}"/>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3267662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9436A-5B6E-F0DA-7A85-4B159520A9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D70E91-71D8-D177-A933-7838070B4EBE}"/>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4" name="Footer Placeholder 3">
            <a:extLst>
              <a:ext uri="{FF2B5EF4-FFF2-40B4-BE49-F238E27FC236}">
                <a16:creationId xmlns:a16="http://schemas.microsoft.com/office/drawing/2014/main" id="{A8C574BE-1972-E261-9B1A-0BE5186825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779C50-18DF-D449-F174-AE0130D89727}"/>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4213432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28BA85-08C9-0519-4737-768C5402867C}"/>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3" name="Footer Placeholder 2">
            <a:extLst>
              <a:ext uri="{FF2B5EF4-FFF2-40B4-BE49-F238E27FC236}">
                <a16:creationId xmlns:a16="http://schemas.microsoft.com/office/drawing/2014/main" id="{BD29C3C5-48DE-0082-947E-EF7F51F9FE4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E59E39-F9A8-F797-3088-66BB23A2623F}"/>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2895472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1C9F3-8E35-FA06-0B11-0CCA809D74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EDFDC3-DD53-479C-26F9-B43C8F05B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90D02B-51D3-F7B6-0832-966CFAB78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DFCE0-D510-6D75-0B1D-38035D3BA81C}"/>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6" name="Footer Placeholder 5">
            <a:extLst>
              <a:ext uri="{FF2B5EF4-FFF2-40B4-BE49-F238E27FC236}">
                <a16:creationId xmlns:a16="http://schemas.microsoft.com/office/drawing/2014/main" id="{425994FB-0640-FE43-B531-8DC1FB2195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28D39A-B102-0BA1-EDB3-8E4DD2F2B509}"/>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2442331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E412-A884-011E-1DF7-85CE6E708F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F7C8A4-C88B-B669-5CEF-CCB58C11A85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1816E8-FAE8-1B46-0634-165F574F6B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AE4FF3-20ED-0B29-C72E-C9B11C512845}"/>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6" name="Footer Placeholder 5">
            <a:extLst>
              <a:ext uri="{FF2B5EF4-FFF2-40B4-BE49-F238E27FC236}">
                <a16:creationId xmlns:a16="http://schemas.microsoft.com/office/drawing/2014/main" id="{41A4B1FA-7B52-E519-5BA7-A5F4D2FA85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793D64-93AD-EA88-367B-0BBB5F611038}"/>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46322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DE42-CD55-F596-A8AF-82F1C5961B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5B7DED-429B-C697-CB73-29004E1048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FE3C87-46BE-5F80-9661-593FCCE125E1}"/>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5" name="Footer Placeholder 4">
            <a:extLst>
              <a:ext uri="{FF2B5EF4-FFF2-40B4-BE49-F238E27FC236}">
                <a16:creationId xmlns:a16="http://schemas.microsoft.com/office/drawing/2014/main" id="{4872EB02-5633-F97D-F640-CC32D2366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CADD57-2FAB-D096-BFAE-510A02C84161}"/>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4075352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55B3C-37CA-6988-BBF8-0657EB4B14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D71AF7-A299-C1A1-8016-2F359B563F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6C6100-0067-2E7F-C329-07DB9BC1BF82}"/>
              </a:ext>
            </a:extLst>
          </p:cNvPr>
          <p:cNvSpPr>
            <a:spLocks noGrp="1"/>
          </p:cNvSpPr>
          <p:nvPr>
            <p:ph type="dt" sz="half" idx="10"/>
          </p:nvPr>
        </p:nvSpPr>
        <p:spPr/>
        <p:txBody>
          <a:bodyPr/>
          <a:lstStyle/>
          <a:p>
            <a:fld id="{B31B885C-E166-4A40-A595-7F208779A13B}" type="datetimeFigureOut">
              <a:rPr lang="en-IN" smtClean="0"/>
              <a:t>14-10-2026</a:t>
            </a:fld>
            <a:endParaRPr lang="en-IN"/>
          </a:p>
        </p:txBody>
      </p:sp>
      <p:sp>
        <p:nvSpPr>
          <p:cNvPr id="5" name="Footer Placeholder 4">
            <a:extLst>
              <a:ext uri="{FF2B5EF4-FFF2-40B4-BE49-F238E27FC236}">
                <a16:creationId xmlns:a16="http://schemas.microsoft.com/office/drawing/2014/main" id="{FA4ECDD7-BE6F-C552-C7E2-12D99777BA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E05AFA-31BD-11FF-6461-D678266C2441}"/>
              </a:ext>
            </a:extLst>
          </p:cNvPr>
          <p:cNvSpPr>
            <a:spLocks noGrp="1"/>
          </p:cNvSpPr>
          <p:nvPr>
            <p:ph type="sldNum" sz="quarter" idx="12"/>
          </p:nvPr>
        </p:nvSpPr>
        <p:spPr/>
        <p:txBody>
          <a:bodyPr/>
          <a:lstStyle/>
          <a:p>
            <a:fld id="{4C3CC324-599A-42C3-9981-1D5D59C26EFA}" type="slidenum">
              <a:rPr lang="en-IN" smtClean="0"/>
              <a:t>‹#›</a:t>
            </a:fld>
            <a:endParaRPr lang="en-IN"/>
          </a:p>
        </p:txBody>
      </p:sp>
    </p:spTree>
    <p:extLst>
      <p:ext uri="{BB962C8B-B14F-4D97-AF65-F5344CB8AC3E}">
        <p14:creationId xmlns:p14="http://schemas.microsoft.com/office/powerpoint/2010/main" val="1098759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B664E1-04EF-11FC-E445-E1CA390C88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6A7867-1FBF-E369-2AC3-06EB70AF3A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A71291-5409-36E8-07F5-D0208C8DEB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1B885C-E166-4A40-A595-7F208779A13B}" type="datetimeFigureOut">
              <a:rPr lang="en-IN" smtClean="0"/>
              <a:t>14-10-2026</a:t>
            </a:fld>
            <a:endParaRPr lang="en-IN"/>
          </a:p>
        </p:txBody>
      </p:sp>
      <p:sp>
        <p:nvSpPr>
          <p:cNvPr id="5" name="Footer Placeholder 4">
            <a:extLst>
              <a:ext uri="{FF2B5EF4-FFF2-40B4-BE49-F238E27FC236}">
                <a16:creationId xmlns:a16="http://schemas.microsoft.com/office/drawing/2014/main" id="{24009690-6EE8-77C2-6081-82AB7035EA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C63B8B5-FAAF-B978-A53F-3C61B019E2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3CC324-599A-42C3-9981-1D5D59C26EFA}" type="slidenum">
              <a:rPr lang="en-IN" smtClean="0"/>
              <a:t>‹#›</a:t>
            </a:fld>
            <a:endParaRPr lang="en-IN"/>
          </a:p>
        </p:txBody>
      </p:sp>
    </p:spTree>
    <p:extLst>
      <p:ext uri="{BB962C8B-B14F-4D97-AF65-F5344CB8AC3E}">
        <p14:creationId xmlns:p14="http://schemas.microsoft.com/office/powerpoint/2010/main" val="235530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47BFFD-60B0-65F6-8846-33A091FFDBED}"/>
              </a:ext>
            </a:extLst>
          </p:cNvPr>
          <p:cNvSpPr txBox="1"/>
          <p:nvPr/>
        </p:nvSpPr>
        <p:spPr>
          <a:xfrm>
            <a:off x="206829" y="612845"/>
            <a:ext cx="11810999" cy="5632311"/>
          </a:xfrm>
          <a:prstGeom prst="rect">
            <a:avLst/>
          </a:prstGeom>
          <a:noFill/>
        </p:spPr>
        <p:txBody>
          <a:bodyPr wrap="square">
            <a:spAutoFit/>
          </a:bodyPr>
          <a:lstStyle/>
          <a:p>
            <a:pPr marL="0" marR="0" lvl="0" indent="-342900">
              <a:buFont typeface="Arial" panose="020B0604020202020204" pitchFamily="34" charset="0"/>
              <a:buChar char="•"/>
            </a:pPr>
            <a:r>
              <a:rPr lang="en-IN" sz="2000" b="1" dirty="0">
                <a:effectLst/>
                <a:latin typeface="+mn-lt"/>
              </a:rPr>
              <a:t>Printers:</a:t>
            </a:r>
            <a:r>
              <a:rPr lang="en-IN" sz="2000" dirty="0">
                <a:effectLst/>
                <a:latin typeface="+mn-lt"/>
              </a:rPr>
              <a:t> Output devices used to transfer digital text and graphics onto physical media like paper or transparency sheets. Common types include inkjet printers for everyday </a:t>
            </a:r>
            <a:r>
              <a:rPr lang="en-IN" sz="2000" dirty="0" err="1">
                <a:effectLst/>
                <a:latin typeface="+mn-lt"/>
              </a:rPr>
              <a:t>color</a:t>
            </a:r>
            <a:r>
              <a:rPr lang="en-IN" sz="2000" dirty="0">
                <a:effectLst/>
                <a:latin typeface="+mn-lt"/>
              </a:rPr>
              <a:t> documents, laser printers for high-speed monochrome office use, and dot-matrix printers for multi-part continuous forms using mechanical impact pins. </a:t>
            </a:r>
          </a:p>
          <a:p>
            <a:pPr marL="0" marR="0" lvl="0" indent="-342900">
              <a:buFont typeface="Arial" panose="020B0604020202020204" pitchFamily="34" charset="0"/>
              <a:buChar char="•"/>
            </a:pPr>
            <a:endParaRPr lang="en-IN" sz="2000" dirty="0"/>
          </a:p>
          <a:p>
            <a:pPr marL="0" marR="0" lvl="0" indent="-342900">
              <a:buFont typeface="Arial" panose="020B0604020202020204" pitchFamily="34" charset="0"/>
              <a:buChar char="•"/>
            </a:pPr>
            <a:endParaRPr lang="en-IN" sz="2000" dirty="0">
              <a:effectLst/>
              <a:latin typeface="+mn-lt"/>
            </a:endParaRPr>
          </a:p>
          <a:p>
            <a:pPr marL="0" marR="0" lvl="0" indent="-342900">
              <a:buFont typeface="Arial" panose="020B0604020202020204" pitchFamily="34" charset="0"/>
              <a:buChar char="•"/>
            </a:pPr>
            <a:r>
              <a:rPr lang="en-IN" sz="2000" b="1" dirty="0">
                <a:effectLst/>
                <a:latin typeface="+mn-lt"/>
              </a:rPr>
              <a:t>Scanners:</a:t>
            </a:r>
            <a:r>
              <a:rPr lang="en-IN" sz="2000" dirty="0">
                <a:effectLst/>
                <a:latin typeface="+mn-lt"/>
              </a:rPr>
              <a:t> Input devices that optically capture physical documents, photographs, or drawings and convert them into digital computer files. Common variants include flatbed scanners for bound books and photos, and sheet-fed scanners for automated multi-page loose document processing. </a:t>
            </a:r>
          </a:p>
          <a:p>
            <a:pPr marL="0" marR="0" lvl="0" indent="-342900">
              <a:buFont typeface="Arial" panose="020B0604020202020204" pitchFamily="34" charset="0"/>
              <a:buChar char="•"/>
            </a:pPr>
            <a:endParaRPr lang="en-IN" sz="2000" dirty="0"/>
          </a:p>
          <a:p>
            <a:pPr marL="0" marR="0" lvl="0" indent="-342900">
              <a:buFont typeface="Arial" panose="020B0604020202020204" pitchFamily="34" charset="0"/>
              <a:buChar char="•"/>
            </a:pPr>
            <a:endParaRPr lang="en-IN" sz="2000" dirty="0">
              <a:effectLst/>
              <a:latin typeface="+mn-lt"/>
            </a:endParaRPr>
          </a:p>
          <a:p>
            <a:pPr marL="0" marR="0" lvl="0" indent="-342900">
              <a:buFont typeface="Arial" panose="020B0604020202020204" pitchFamily="34" charset="0"/>
              <a:buChar char="•"/>
            </a:pPr>
            <a:r>
              <a:rPr lang="en-IN" sz="2000" b="1" dirty="0">
                <a:effectLst/>
                <a:latin typeface="+mn-lt"/>
              </a:rPr>
              <a:t>Webcams:</a:t>
            </a:r>
            <a:r>
              <a:rPr lang="en-IN" sz="2000" dirty="0">
                <a:effectLst/>
                <a:latin typeface="+mn-lt"/>
              </a:rPr>
              <a:t> Input devices that capture real-time video and audio streams for virtual communication, video conferencing, online education, and live streaming. </a:t>
            </a:r>
          </a:p>
          <a:p>
            <a:pPr marL="0" marR="0" lvl="0" indent="-342900">
              <a:buFont typeface="Arial" panose="020B0604020202020204" pitchFamily="34" charset="0"/>
              <a:buChar char="•"/>
            </a:pPr>
            <a:endParaRPr lang="en-IN" sz="2000" dirty="0"/>
          </a:p>
          <a:p>
            <a:pPr marL="0" marR="0" lvl="0" indent="-342900">
              <a:buFont typeface="Arial" panose="020B0604020202020204" pitchFamily="34" charset="0"/>
              <a:buChar char="•"/>
            </a:pPr>
            <a:endParaRPr lang="en-IN" sz="2000" dirty="0">
              <a:effectLst/>
              <a:latin typeface="+mn-lt"/>
            </a:endParaRPr>
          </a:p>
          <a:p>
            <a:pPr marL="0" marR="0" lvl="0" indent="-342900">
              <a:buFont typeface="Arial" panose="020B0604020202020204" pitchFamily="34" charset="0"/>
              <a:buChar char="•"/>
            </a:pPr>
            <a:r>
              <a:rPr lang="en-IN" sz="2000" b="1" dirty="0">
                <a:effectLst/>
                <a:latin typeface="+mn-lt"/>
              </a:rPr>
              <a:t>Connection Interfaces:</a:t>
            </a:r>
            <a:r>
              <a:rPr lang="en-IN" sz="2000" dirty="0">
                <a:effectLst/>
                <a:latin typeface="+mn-lt"/>
              </a:rPr>
              <a:t> The physical ports and wireless protocols used to link peripherals to the computer system, primarily including USB (for direct wired data transfer), Wi-Fi (for network-based wireless printing and scanning), and Bluetooth (for short-range wireless pairing). </a:t>
            </a:r>
            <a:endParaRPr lang="en-IN" sz="2000" dirty="0">
              <a:effectLst/>
              <a:latin typeface="Google Sans Text"/>
            </a:endParaRPr>
          </a:p>
        </p:txBody>
      </p:sp>
      <p:sp>
        <p:nvSpPr>
          <p:cNvPr id="5" name="TextBox 4">
            <a:extLst>
              <a:ext uri="{FF2B5EF4-FFF2-40B4-BE49-F238E27FC236}">
                <a16:creationId xmlns:a16="http://schemas.microsoft.com/office/drawing/2014/main" id="{ED4F4771-B2E7-947E-9378-9F9FCC40897B}"/>
              </a:ext>
            </a:extLst>
          </p:cNvPr>
          <p:cNvSpPr txBox="1"/>
          <p:nvPr/>
        </p:nvSpPr>
        <p:spPr>
          <a:xfrm>
            <a:off x="3853542" y="189083"/>
            <a:ext cx="6096000" cy="461665"/>
          </a:xfrm>
          <a:prstGeom prst="rect">
            <a:avLst/>
          </a:prstGeom>
          <a:noFill/>
        </p:spPr>
        <p:txBody>
          <a:bodyPr wrap="square">
            <a:spAutoFit/>
          </a:bodyPr>
          <a:lstStyle/>
          <a:p>
            <a:pPr marL="0" marR="0">
              <a:buNone/>
            </a:pPr>
            <a:r>
              <a:rPr lang="en-IN" sz="2400" b="1" dirty="0">
                <a:solidFill>
                  <a:schemeClr val="tx1">
                    <a:lumMod val="95000"/>
                    <a:lumOff val="5000"/>
                  </a:schemeClr>
                </a:solidFill>
                <a:effectLst/>
                <a:highlight>
                  <a:srgbClr val="FFFF00"/>
                </a:highlight>
                <a:latin typeface="+mn-lt"/>
              </a:rPr>
              <a:t>Overview of Peripherals (Theory</a:t>
            </a:r>
            <a:r>
              <a:rPr lang="en-IN" sz="2400" b="1" dirty="0">
                <a:solidFill>
                  <a:schemeClr val="tx1">
                    <a:lumMod val="95000"/>
                    <a:lumOff val="5000"/>
                  </a:schemeClr>
                </a:solidFill>
                <a:effectLst/>
                <a:latin typeface="+mn-lt"/>
              </a:rPr>
              <a:t>)</a:t>
            </a:r>
          </a:p>
        </p:txBody>
      </p:sp>
    </p:spTree>
    <p:extLst>
      <p:ext uri="{BB962C8B-B14F-4D97-AF65-F5344CB8AC3E}">
        <p14:creationId xmlns:p14="http://schemas.microsoft.com/office/powerpoint/2010/main" val="1966814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F77A3AE-0467-CEF2-FC29-F12E7ADCF98B}"/>
              </a:ext>
            </a:extLst>
          </p:cNvPr>
          <p:cNvGraphicFramePr>
            <a:graphicFrameLocks noGrp="1"/>
          </p:cNvGraphicFramePr>
          <p:nvPr>
            <p:extLst>
              <p:ext uri="{D42A27DB-BD31-4B8C-83A1-F6EECF244321}">
                <p14:modId xmlns:p14="http://schemas.microsoft.com/office/powerpoint/2010/main" val="838219599"/>
              </p:ext>
            </p:extLst>
          </p:nvPr>
        </p:nvGraphicFramePr>
        <p:xfrm>
          <a:off x="130629" y="887987"/>
          <a:ext cx="12061371" cy="5945110"/>
        </p:xfrm>
        <a:graphic>
          <a:graphicData uri="http://schemas.openxmlformats.org/drawingml/2006/table">
            <a:tbl>
              <a:tblPr>
                <a:tableStyleId>{5C22544A-7EE6-4342-B048-85BDC9FD1C3A}</a:tableStyleId>
              </a:tblPr>
              <a:tblGrid>
                <a:gridCol w="4005943">
                  <a:extLst>
                    <a:ext uri="{9D8B030D-6E8A-4147-A177-3AD203B41FA5}">
                      <a16:colId xmlns:a16="http://schemas.microsoft.com/office/drawing/2014/main" val="832902041"/>
                    </a:ext>
                  </a:extLst>
                </a:gridCol>
                <a:gridCol w="4027714">
                  <a:extLst>
                    <a:ext uri="{9D8B030D-6E8A-4147-A177-3AD203B41FA5}">
                      <a16:colId xmlns:a16="http://schemas.microsoft.com/office/drawing/2014/main" val="2785103441"/>
                    </a:ext>
                  </a:extLst>
                </a:gridCol>
                <a:gridCol w="4027714">
                  <a:extLst>
                    <a:ext uri="{9D8B030D-6E8A-4147-A177-3AD203B41FA5}">
                      <a16:colId xmlns:a16="http://schemas.microsoft.com/office/drawing/2014/main" val="1715036763"/>
                    </a:ext>
                  </a:extLst>
                </a:gridCol>
              </a:tblGrid>
              <a:tr h="318771">
                <a:tc>
                  <a:txBody>
                    <a:bodyPr/>
                    <a:lstStyle/>
                    <a:p>
                      <a:pPr marL="0" marR="0">
                        <a:spcAft>
                          <a:spcPts val="2400"/>
                        </a:spcAft>
                        <a:buNone/>
                      </a:pPr>
                      <a:r>
                        <a:rPr lang="en-IN" sz="1600" dirty="0">
                          <a:effectLst/>
                          <a:highlight>
                            <a:srgbClr val="FF00FF"/>
                          </a:highlight>
                        </a:rPr>
                        <a:t>Category</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Device Type</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a:effectLst/>
                          <a:highlight>
                            <a:srgbClr val="FF00FF"/>
                          </a:highlight>
                        </a:rPr>
                        <a:t>Real-Life Use Case</a:t>
                      </a:r>
                      <a:endParaRPr lang="en-IN" sz="160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3140703888"/>
                  </a:ext>
                </a:extLst>
              </a:tr>
              <a:tr h="749923">
                <a:tc>
                  <a:txBody>
                    <a:bodyPr/>
                    <a:lstStyle/>
                    <a:p>
                      <a:pPr marL="0" marR="0">
                        <a:spcAft>
                          <a:spcPts val="2400"/>
                        </a:spcAft>
                        <a:buNone/>
                      </a:pPr>
                      <a:r>
                        <a:rPr lang="en-IN" sz="1600" dirty="0">
                          <a:effectLst/>
                          <a:highlight>
                            <a:srgbClr val="FF00FF"/>
                          </a:highlight>
                        </a:rPr>
                        <a:t>Printers</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Inkjet Printer</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a:effectLst/>
                          <a:highlight>
                            <a:srgbClr val="FF00FF"/>
                          </a:highlight>
                        </a:rPr>
                        <a:t>Printing color college assignments and photographs at home. </a:t>
                      </a:r>
                      <a:endParaRPr lang="en-IN" sz="160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2984592448"/>
                  </a:ext>
                </a:extLst>
              </a:tr>
              <a:tr h="760148">
                <a:tc>
                  <a:txBody>
                    <a:bodyPr/>
                    <a:lstStyle/>
                    <a:p>
                      <a:pPr marL="0" marR="0">
                        <a:spcAft>
                          <a:spcPts val="2400"/>
                        </a:spcAft>
                        <a:buNone/>
                      </a:pP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Laser Printer</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Printing bulk invoices and high-volume documents quickly in a corporate office. </a:t>
                      </a:r>
                      <a:endParaRPr lang="en-IN" sz="1600" dirty="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3924429546"/>
                  </a:ext>
                </a:extLst>
              </a:tr>
              <a:tr h="760148">
                <a:tc>
                  <a:txBody>
                    <a:bodyPr/>
                    <a:lstStyle/>
                    <a:p>
                      <a:pPr marL="0" marR="0">
                        <a:spcAft>
                          <a:spcPts val="2400"/>
                        </a:spcAft>
                        <a:buNone/>
                      </a:pP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Dot-Matrix Printer</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Printing multi-copy railway tickets or bank passbooks using mechanical impact pins. </a:t>
                      </a:r>
                      <a:endParaRPr lang="en-IN" sz="1600" dirty="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2531607936"/>
                  </a:ext>
                </a:extLst>
              </a:tr>
              <a:tr h="760148">
                <a:tc>
                  <a:txBody>
                    <a:bodyPr/>
                    <a:lstStyle/>
                    <a:p>
                      <a:pPr marL="0" marR="0">
                        <a:spcAft>
                          <a:spcPts val="2400"/>
                        </a:spcAft>
                        <a:buNone/>
                      </a:pPr>
                      <a:r>
                        <a:rPr lang="en-IN" sz="1600">
                          <a:effectLst/>
                          <a:highlight>
                            <a:srgbClr val="FF00FF"/>
                          </a:highlight>
                        </a:rPr>
                        <a:t>Scanners</a:t>
                      </a: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Flatbed Scanner</a:t>
                      </a: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Digitizing old physical photographs or textbook pages by placing them flat on the glass. </a:t>
                      </a:r>
                      <a:endParaRPr lang="en-IN" sz="1600" dirty="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1281792848"/>
                  </a:ext>
                </a:extLst>
              </a:tr>
              <a:tr h="980835">
                <a:tc>
                  <a:txBody>
                    <a:bodyPr/>
                    <a:lstStyle/>
                    <a:p>
                      <a:pPr marL="0" marR="0">
                        <a:spcAft>
                          <a:spcPts val="2400"/>
                        </a:spcAft>
                        <a:buNone/>
                      </a:pP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a:effectLst/>
                          <a:highlight>
                            <a:srgbClr val="FF00FF"/>
                          </a:highlight>
                        </a:rPr>
                        <a:t>Sheet-Fed Scanner</a:t>
                      </a: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Rapidly scanning single-sided tax documents or loose financial sheets through an automatic feeder. </a:t>
                      </a:r>
                      <a:endParaRPr lang="en-IN" sz="1600" dirty="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3056529143"/>
                  </a:ext>
                </a:extLst>
              </a:tr>
              <a:tr h="760148">
                <a:tc>
                  <a:txBody>
                    <a:bodyPr/>
                    <a:lstStyle/>
                    <a:p>
                      <a:pPr marL="0" marR="0">
                        <a:spcAft>
                          <a:spcPts val="2400"/>
                        </a:spcAft>
                        <a:buNone/>
                      </a:pPr>
                      <a:r>
                        <a:rPr lang="en-IN" sz="1600">
                          <a:effectLst/>
                          <a:highlight>
                            <a:srgbClr val="FF00FF"/>
                          </a:highlight>
                        </a:rPr>
                        <a:t>Webcams</a:t>
                      </a: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a:effectLst/>
                          <a:highlight>
                            <a:srgbClr val="FF00FF"/>
                          </a:highlight>
                        </a:rPr>
                        <a:t>Conference Webcam</a:t>
                      </a: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Attending online lectures and virtual business meetings via Zoom or Microsoft Teams. </a:t>
                      </a:r>
                      <a:endParaRPr lang="en-IN" sz="1600" dirty="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3023195581"/>
                  </a:ext>
                </a:extLst>
              </a:tr>
              <a:tr h="760148">
                <a:tc>
                  <a:txBody>
                    <a:bodyPr/>
                    <a:lstStyle/>
                    <a:p>
                      <a:pPr marL="0" marR="0">
                        <a:spcAft>
                          <a:spcPts val="2400"/>
                        </a:spcAft>
                        <a:buNone/>
                      </a:pPr>
                      <a:endParaRPr lang="en-IN" sz="1600" dirty="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a:effectLst/>
                          <a:highlight>
                            <a:srgbClr val="FF00FF"/>
                          </a:highlight>
                        </a:rPr>
                        <a:t>Streaming Webcam</a:t>
                      </a:r>
                      <a:endParaRPr lang="en-IN" sz="1600">
                        <a:effectLst/>
                        <a:highlight>
                          <a:srgbClr val="FF00FF"/>
                        </a:highlight>
                        <a:latin typeface="Google Sans Text"/>
                      </a:endParaRPr>
                    </a:p>
                  </a:txBody>
                  <a:tcPr marL="56757" marR="56757" marT="37838" marB="37838" anchor="ctr"/>
                </a:tc>
                <a:tc>
                  <a:txBody>
                    <a:bodyPr/>
                    <a:lstStyle/>
                    <a:p>
                      <a:pPr marL="0" marR="0">
                        <a:spcAft>
                          <a:spcPts val="2400"/>
                        </a:spcAft>
                        <a:buNone/>
                      </a:pPr>
                      <a:r>
                        <a:rPr lang="en-IN" sz="1600" dirty="0">
                          <a:effectLst/>
                          <a:highlight>
                            <a:srgbClr val="FF00FF"/>
                          </a:highlight>
                        </a:rPr>
                        <a:t>Broadcasting live gameplay or interactive content to platforms like YouTube or Twitch.</a:t>
                      </a:r>
                      <a:endParaRPr lang="en-IN" sz="1600" dirty="0">
                        <a:effectLst/>
                        <a:highlight>
                          <a:srgbClr val="FF00FF"/>
                        </a:highlight>
                        <a:latin typeface="Google Sans Text"/>
                      </a:endParaRPr>
                    </a:p>
                  </a:txBody>
                  <a:tcPr marL="56757" marR="56757" marT="37838" marB="37838" anchor="ctr"/>
                </a:tc>
                <a:extLst>
                  <a:ext uri="{0D108BD9-81ED-4DB2-BD59-A6C34878D82A}">
                    <a16:rowId xmlns:a16="http://schemas.microsoft.com/office/drawing/2014/main" val="1435287401"/>
                  </a:ext>
                </a:extLst>
              </a:tr>
            </a:tbl>
          </a:graphicData>
        </a:graphic>
      </p:graphicFrame>
      <p:sp>
        <p:nvSpPr>
          <p:cNvPr id="4" name="TextBox 3">
            <a:extLst>
              <a:ext uri="{FF2B5EF4-FFF2-40B4-BE49-F238E27FC236}">
                <a16:creationId xmlns:a16="http://schemas.microsoft.com/office/drawing/2014/main" id="{6BAAF17D-37CD-2B82-82EC-D5666CDC5DC0}"/>
              </a:ext>
            </a:extLst>
          </p:cNvPr>
          <p:cNvSpPr txBox="1"/>
          <p:nvPr/>
        </p:nvSpPr>
        <p:spPr>
          <a:xfrm>
            <a:off x="3363685" y="228601"/>
            <a:ext cx="6444343" cy="461665"/>
          </a:xfrm>
          <a:prstGeom prst="rect">
            <a:avLst/>
          </a:prstGeom>
          <a:noFill/>
        </p:spPr>
        <p:txBody>
          <a:bodyPr wrap="square">
            <a:spAutoFit/>
          </a:bodyPr>
          <a:lstStyle/>
          <a:p>
            <a:pPr marL="0" marR="0">
              <a:buNone/>
            </a:pPr>
            <a:r>
              <a:rPr lang="en-IN" sz="2400" b="1" dirty="0">
                <a:solidFill>
                  <a:schemeClr val="bg1"/>
                </a:solidFill>
                <a:effectLst/>
                <a:highlight>
                  <a:srgbClr val="00FFFF"/>
                </a:highlight>
                <a:latin typeface="+mn-lt"/>
              </a:rPr>
              <a:t>Table of Peripherals and Real-Life Use Cases</a:t>
            </a:r>
            <a:endParaRPr lang="en-IN" sz="2400" b="1" dirty="0">
              <a:solidFill>
                <a:schemeClr val="bg1"/>
              </a:solidFill>
              <a:effectLst/>
              <a:highlight>
                <a:srgbClr val="00FFFF"/>
              </a:highlight>
              <a:latin typeface="Google Sans"/>
            </a:endParaRPr>
          </a:p>
        </p:txBody>
      </p:sp>
    </p:spTree>
    <p:extLst>
      <p:ext uri="{BB962C8B-B14F-4D97-AF65-F5344CB8AC3E}">
        <p14:creationId xmlns:p14="http://schemas.microsoft.com/office/powerpoint/2010/main" val="1297321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0E9B09-B078-409D-F57E-548684E33A9F}"/>
              </a:ext>
            </a:extLst>
          </p:cNvPr>
          <p:cNvPicPr>
            <a:picLocks noChangeAspect="1"/>
          </p:cNvPicPr>
          <p:nvPr/>
        </p:nvPicPr>
        <p:blipFill>
          <a:blip r:embed="rId2"/>
          <a:stretch>
            <a:fillRect/>
          </a:stretch>
        </p:blipFill>
        <p:spPr>
          <a:xfrm>
            <a:off x="304801" y="0"/>
            <a:ext cx="11549742" cy="6858000"/>
          </a:xfrm>
          <a:prstGeom prst="rect">
            <a:avLst/>
          </a:prstGeom>
        </p:spPr>
      </p:pic>
    </p:spTree>
    <p:extLst>
      <p:ext uri="{BB962C8B-B14F-4D97-AF65-F5344CB8AC3E}">
        <p14:creationId xmlns:p14="http://schemas.microsoft.com/office/powerpoint/2010/main" val="147247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0FDA07-4E44-723F-2131-02E52601EEA9}"/>
              </a:ext>
            </a:extLst>
          </p:cNvPr>
          <p:cNvSpPr txBox="1"/>
          <p:nvPr/>
        </p:nvSpPr>
        <p:spPr>
          <a:xfrm>
            <a:off x="174171" y="326572"/>
            <a:ext cx="11876315" cy="6247864"/>
          </a:xfrm>
          <a:prstGeom prst="rect">
            <a:avLst/>
          </a:prstGeom>
          <a:noFill/>
        </p:spPr>
        <p:txBody>
          <a:bodyPr wrap="square">
            <a:spAutoFit/>
          </a:bodyPr>
          <a:lstStyle/>
          <a:p>
            <a:pPr marL="0" marR="0">
              <a:buNone/>
            </a:pPr>
            <a:r>
              <a:rPr lang="en-IN" sz="2000" b="1" dirty="0">
                <a:effectLst/>
                <a:highlight>
                  <a:srgbClr val="00FFFF"/>
                </a:highlight>
                <a:latin typeface="+mn-lt"/>
              </a:rPr>
              <a:t>Comparison of Connection Interfaces</a:t>
            </a:r>
          </a:p>
          <a:p>
            <a:pPr marL="0" marR="0" lvl="0" indent="-342900">
              <a:buFont typeface="Arial" panose="020B0604020202020204" pitchFamily="34" charset="0"/>
              <a:buChar char="•"/>
            </a:pPr>
            <a:r>
              <a:rPr lang="en-IN" sz="2000" b="1" dirty="0">
                <a:effectLst/>
                <a:highlight>
                  <a:srgbClr val="00FFFF"/>
                </a:highlight>
                <a:latin typeface="+mn-lt"/>
              </a:rPr>
              <a:t>USB (Universal Serial Bus):</a:t>
            </a:r>
          </a:p>
          <a:p>
            <a:pPr marL="0" marR="0" lvl="0" indent="-342900">
              <a:buFont typeface="Arial" panose="020B0604020202020204" pitchFamily="34" charset="0"/>
              <a:buChar char="•"/>
            </a:pPr>
            <a:endParaRPr lang="en-IN" sz="2000" dirty="0">
              <a:effectLst/>
              <a:highlight>
                <a:srgbClr val="00FFFF"/>
              </a:highlight>
              <a:latin typeface="+mn-lt"/>
            </a:endParaRPr>
          </a:p>
          <a:p>
            <a:pPr marL="0" marR="0" lvl="1" indent="-285750">
              <a:buFont typeface="Arial" panose="020B0604020202020204" pitchFamily="34" charset="0"/>
              <a:buChar char="•"/>
            </a:pPr>
            <a:r>
              <a:rPr lang="en-IN" sz="2000" b="1" dirty="0">
                <a:effectLst/>
                <a:highlight>
                  <a:srgbClr val="00FFFF"/>
                </a:highlight>
                <a:latin typeface="+mn-lt"/>
              </a:rPr>
              <a:t>Advantage:</a:t>
            </a:r>
            <a:r>
              <a:rPr lang="en-IN" sz="2000" dirty="0">
                <a:effectLst/>
                <a:highlight>
                  <a:srgbClr val="00FFFF"/>
                </a:highlight>
                <a:latin typeface="+mn-lt"/>
              </a:rPr>
              <a:t> Delivers high data transfer speed and universal plug-and-play compatibility across almost all modern PCs and peripherals.</a:t>
            </a:r>
          </a:p>
          <a:p>
            <a:pPr marL="0" marR="0" lvl="1" indent="-285750">
              <a:buFont typeface="Arial" panose="020B0604020202020204" pitchFamily="34" charset="0"/>
              <a:buChar char="•"/>
            </a:pPr>
            <a:r>
              <a:rPr lang="en-IN" sz="2000" dirty="0">
                <a:effectLst/>
                <a:highlight>
                  <a:srgbClr val="00FFFF"/>
                </a:highlight>
                <a:latin typeface="+mn-lt"/>
              </a:rPr>
              <a:t> </a:t>
            </a:r>
          </a:p>
          <a:p>
            <a:pPr marL="0" marR="0" lvl="1" indent="-285750">
              <a:buFont typeface="Arial" panose="020B0604020202020204" pitchFamily="34" charset="0"/>
              <a:buChar char="•"/>
            </a:pPr>
            <a:r>
              <a:rPr lang="en-IN" sz="2000" b="1" dirty="0">
                <a:effectLst/>
                <a:highlight>
                  <a:srgbClr val="00FFFF"/>
                </a:highlight>
                <a:latin typeface="+mn-lt"/>
              </a:rPr>
              <a:t>Disadvantage:</a:t>
            </a:r>
            <a:r>
              <a:rPr lang="en-IN" sz="2000" dirty="0">
                <a:effectLst/>
                <a:highlight>
                  <a:srgbClr val="00FFFF"/>
                </a:highlight>
                <a:latin typeface="+mn-lt"/>
              </a:rPr>
              <a:t> Physical cable length is restricted (typically up to 5 meters without active extenders).</a:t>
            </a:r>
          </a:p>
          <a:p>
            <a:pPr marL="0" marR="0" lvl="1" indent="-285750">
              <a:buFont typeface="Arial" panose="020B0604020202020204" pitchFamily="34" charset="0"/>
              <a:buChar char="•"/>
            </a:pPr>
            <a:endParaRPr lang="en-IN" sz="2000" dirty="0">
              <a:effectLst/>
              <a:highlight>
                <a:srgbClr val="00FFFF"/>
              </a:highlight>
              <a:latin typeface="+mn-lt"/>
            </a:endParaRPr>
          </a:p>
          <a:p>
            <a:pPr marL="0" marR="0" lvl="0" indent="-342900">
              <a:buFont typeface="Arial" panose="020B0604020202020204" pitchFamily="34" charset="0"/>
              <a:buChar char="•"/>
            </a:pPr>
            <a:r>
              <a:rPr lang="en-IN" sz="2000" b="1" dirty="0">
                <a:effectLst/>
                <a:highlight>
                  <a:srgbClr val="00FFFF"/>
                </a:highlight>
                <a:latin typeface="+mn-lt"/>
              </a:rPr>
              <a:t>Wi-Fi (Wireless Fidelity):</a:t>
            </a:r>
          </a:p>
          <a:p>
            <a:pPr marL="0" marR="0" lvl="0" indent="-342900">
              <a:buFont typeface="Arial" panose="020B0604020202020204" pitchFamily="34" charset="0"/>
              <a:buChar char="•"/>
            </a:pPr>
            <a:endParaRPr lang="en-IN" sz="2000" dirty="0">
              <a:effectLst/>
              <a:highlight>
                <a:srgbClr val="00FFFF"/>
              </a:highlight>
              <a:latin typeface="+mn-lt"/>
            </a:endParaRPr>
          </a:p>
          <a:p>
            <a:pPr marL="0" marR="0" lvl="1" indent="-285750">
              <a:buFont typeface="Arial" panose="020B0604020202020204" pitchFamily="34" charset="0"/>
              <a:buChar char="•"/>
            </a:pPr>
            <a:r>
              <a:rPr lang="en-IN" sz="2000" b="1" dirty="0">
                <a:effectLst/>
                <a:highlight>
                  <a:srgbClr val="00FFFF"/>
                </a:highlight>
                <a:latin typeface="+mn-lt"/>
              </a:rPr>
              <a:t>Advantage:</a:t>
            </a:r>
            <a:r>
              <a:rPr lang="en-IN" sz="2000" dirty="0">
                <a:effectLst/>
                <a:highlight>
                  <a:srgbClr val="00FFFF"/>
                </a:highlight>
                <a:latin typeface="+mn-lt"/>
              </a:rPr>
              <a:t> Offers cable-free convenience and allows multiple devices across a room or home to access the same peripheral simultaneously.</a:t>
            </a:r>
          </a:p>
          <a:p>
            <a:pPr marL="0" marR="0" lvl="1" indent="-285750">
              <a:buFont typeface="Arial" panose="020B0604020202020204" pitchFamily="34" charset="0"/>
              <a:buChar char="•"/>
            </a:pPr>
            <a:endParaRPr lang="en-IN" sz="2000" dirty="0">
              <a:effectLst/>
              <a:highlight>
                <a:srgbClr val="00FFFF"/>
              </a:highlight>
              <a:latin typeface="+mn-lt"/>
            </a:endParaRPr>
          </a:p>
          <a:p>
            <a:pPr marL="0" marR="0" lvl="1" indent="-285750">
              <a:buFont typeface="Arial" panose="020B0604020202020204" pitchFamily="34" charset="0"/>
              <a:buChar char="•"/>
            </a:pPr>
            <a:r>
              <a:rPr lang="en-IN" sz="2000" b="1" dirty="0">
                <a:effectLst/>
                <a:highlight>
                  <a:srgbClr val="00FFFF"/>
                </a:highlight>
                <a:latin typeface="+mn-lt"/>
              </a:rPr>
              <a:t>Disadvantage:</a:t>
            </a:r>
            <a:r>
              <a:rPr lang="en-IN" sz="2000" dirty="0">
                <a:effectLst/>
                <a:highlight>
                  <a:srgbClr val="00FFFF"/>
                </a:highlight>
                <a:latin typeface="+mn-lt"/>
              </a:rPr>
              <a:t> Vulnerable to signal interference, walls, and network congestion which can cause lag or dropouts. </a:t>
            </a:r>
          </a:p>
          <a:p>
            <a:pPr marL="0" marR="0" lvl="1" indent="-285750">
              <a:buFont typeface="Arial" panose="020B0604020202020204" pitchFamily="34" charset="0"/>
              <a:buChar char="•"/>
            </a:pPr>
            <a:endParaRPr lang="en-IN" sz="2000" dirty="0">
              <a:effectLst/>
              <a:highlight>
                <a:srgbClr val="00FFFF"/>
              </a:highlight>
              <a:latin typeface="+mn-lt"/>
            </a:endParaRPr>
          </a:p>
          <a:p>
            <a:pPr marL="0" marR="0" lvl="0" indent="-342900">
              <a:buFont typeface="Arial" panose="020B0604020202020204" pitchFamily="34" charset="0"/>
              <a:buChar char="•"/>
            </a:pPr>
            <a:r>
              <a:rPr lang="en-IN" sz="2000" b="1" dirty="0">
                <a:effectLst/>
                <a:highlight>
                  <a:srgbClr val="00FFFF"/>
                </a:highlight>
                <a:latin typeface="+mn-lt"/>
              </a:rPr>
              <a:t>Bluetooth:</a:t>
            </a:r>
            <a:endParaRPr lang="en-IN" sz="2000" dirty="0">
              <a:effectLst/>
              <a:highlight>
                <a:srgbClr val="00FFFF"/>
              </a:highlight>
              <a:latin typeface="+mn-lt"/>
            </a:endParaRPr>
          </a:p>
          <a:p>
            <a:pPr marL="0" marR="0" lvl="1" indent="-285750">
              <a:buFont typeface="Arial" panose="020B0604020202020204" pitchFamily="34" charset="0"/>
              <a:buChar char="•"/>
            </a:pPr>
            <a:r>
              <a:rPr lang="en-IN" sz="2000" b="1" dirty="0">
                <a:effectLst/>
                <a:highlight>
                  <a:srgbClr val="00FFFF"/>
                </a:highlight>
                <a:latin typeface="+mn-lt"/>
              </a:rPr>
              <a:t>Advantage:</a:t>
            </a:r>
            <a:r>
              <a:rPr lang="en-IN" sz="2000" dirty="0">
                <a:effectLst/>
                <a:highlight>
                  <a:srgbClr val="00FFFF"/>
                </a:highlight>
                <a:latin typeface="+mn-lt"/>
              </a:rPr>
              <a:t> Highly energy-efficient and convenient for short-range personal device pairing without needing a router. </a:t>
            </a:r>
          </a:p>
          <a:p>
            <a:pPr marL="0" marR="0" lvl="1" indent="-285750">
              <a:buFont typeface="Arial" panose="020B0604020202020204" pitchFamily="34" charset="0"/>
              <a:buChar char="•"/>
            </a:pPr>
            <a:r>
              <a:rPr lang="en-IN" sz="2000" b="1" dirty="0">
                <a:effectLst/>
                <a:highlight>
                  <a:srgbClr val="00FFFF"/>
                </a:highlight>
                <a:latin typeface="+mn-lt"/>
              </a:rPr>
              <a:t>Disadvantage:</a:t>
            </a:r>
            <a:r>
              <a:rPr lang="en-IN" sz="2000" dirty="0">
                <a:effectLst/>
                <a:highlight>
                  <a:srgbClr val="00FFFF"/>
                </a:highlight>
                <a:latin typeface="+mn-lt"/>
              </a:rPr>
              <a:t> Lower bandwidth capacity and limited range (typically up to 10 meters). </a:t>
            </a:r>
            <a:endParaRPr lang="en-IN" sz="2000" dirty="0">
              <a:effectLst/>
              <a:highlight>
                <a:srgbClr val="00FFFF"/>
              </a:highlight>
              <a:latin typeface="Google Sans Text"/>
            </a:endParaRPr>
          </a:p>
        </p:txBody>
      </p:sp>
    </p:spTree>
    <p:extLst>
      <p:ext uri="{BB962C8B-B14F-4D97-AF65-F5344CB8AC3E}">
        <p14:creationId xmlns:p14="http://schemas.microsoft.com/office/powerpoint/2010/main" val="2167489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79EA75-5217-A6F1-FE0E-8DB6362DE2C9}"/>
              </a:ext>
            </a:extLst>
          </p:cNvPr>
          <p:cNvSpPr txBox="1"/>
          <p:nvPr/>
        </p:nvSpPr>
        <p:spPr>
          <a:xfrm>
            <a:off x="108857" y="446314"/>
            <a:ext cx="11974286" cy="6186309"/>
          </a:xfrm>
          <a:prstGeom prst="rect">
            <a:avLst/>
          </a:prstGeom>
          <a:noFill/>
        </p:spPr>
        <p:txBody>
          <a:bodyPr wrap="square">
            <a:spAutoFit/>
          </a:bodyPr>
          <a:lstStyle/>
          <a:p>
            <a:pPr>
              <a:buNone/>
            </a:pPr>
            <a:r>
              <a:rPr lang="en-IN" b="1" dirty="0">
                <a:highlight>
                  <a:srgbClr val="00FF00"/>
                </a:highlight>
              </a:rPr>
              <a:t>Device:</a:t>
            </a:r>
            <a:r>
              <a:rPr lang="en-IN" dirty="0">
                <a:highlight>
                  <a:srgbClr val="00FF00"/>
                </a:highlight>
              </a:rPr>
              <a:t> Inkjet Printer (Wireless Setup)</a:t>
            </a:r>
          </a:p>
          <a:p>
            <a:pPr lvl="0"/>
            <a:endParaRPr lang="en-IN" dirty="0">
              <a:highlight>
                <a:srgbClr val="00FF00"/>
              </a:highlight>
            </a:endParaRPr>
          </a:p>
          <a:p>
            <a:pPr lvl="0"/>
            <a:r>
              <a:rPr lang="en-IN" b="1" dirty="0">
                <a:highlight>
                  <a:srgbClr val="00FF00"/>
                </a:highlight>
              </a:rPr>
              <a:t>Unbox and Power On:</a:t>
            </a:r>
            <a:r>
              <a:rPr lang="en-IN" dirty="0">
                <a:highlight>
                  <a:srgbClr val="00FF00"/>
                </a:highlight>
              </a:rPr>
              <a:t> Place the inkjet printer on a stable desk close to an active wall electrical outlet, remove all protective packing tape, and plug the power cord directly into the printer and wall socket. Turn it on using the power button.</a:t>
            </a:r>
          </a:p>
          <a:p>
            <a:pPr lvl="0"/>
            <a:r>
              <a:rPr lang="en-IN" i="1" dirty="0">
                <a:highlight>
                  <a:srgbClr val="00FF00"/>
                </a:highlight>
              </a:rPr>
              <a:t>Verification:</a:t>
            </a:r>
            <a:r>
              <a:rPr lang="en-IN" dirty="0">
                <a:highlight>
                  <a:srgbClr val="00FF00"/>
                </a:highlight>
              </a:rPr>
              <a:t> Ensure the printer's power light or LCD control panel turns on and remains lit.</a:t>
            </a:r>
          </a:p>
          <a:p>
            <a:pPr lvl="0"/>
            <a:endParaRPr lang="en-IN" dirty="0">
              <a:highlight>
                <a:srgbClr val="00FF00"/>
              </a:highlight>
            </a:endParaRPr>
          </a:p>
          <a:p>
            <a:pPr lvl="0"/>
            <a:r>
              <a:rPr lang="en-IN" b="1" dirty="0">
                <a:highlight>
                  <a:srgbClr val="00FF00"/>
                </a:highlight>
              </a:rPr>
              <a:t>Load Paper and Cartridges:</a:t>
            </a:r>
            <a:r>
              <a:rPr lang="en-IN" dirty="0">
                <a:highlight>
                  <a:srgbClr val="00FF00"/>
                </a:highlight>
              </a:rPr>
              <a:t> Open the input tray, insert a stack of standard A4 paper, adjust the paper guides, open the cartridge access door, and install the </a:t>
            </a:r>
            <a:r>
              <a:rPr lang="en-IN" dirty="0" err="1">
                <a:highlight>
                  <a:srgbClr val="00FF00"/>
                </a:highlight>
              </a:rPr>
              <a:t>color</a:t>
            </a:r>
            <a:r>
              <a:rPr lang="en-IN" dirty="0">
                <a:highlight>
                  <a:srgbClr val="00FF00"/>
                </a:highlight>
              </a:rPr>
              <a:t> and black ink cartridges until they click securely into place.</a:t>
            </a:r>
          </a:p>
          <a:p>
            <a:pPr lvl="0"/>
            <a:r>
              <a:rPr lang="en-IN" i="1" dirty="0">
                <a:highlight>
                  <a:srgbClr val="00FF00"/>
                </a:highlight>
              </a:rPr>
              <a:t>Verification:</a:t>
            </a:r>
            <a:r>
              <a:rPr lang="en-IN" dirty="0">
                <a:highlight>
                  <a:srgbClr val="00FF00"/>
                </a:highlight>
              </a:rPr>
              <a:t> Print a alignment or test sheet directly from the printer's built-in touchscreen menu.</a:t>
            </a:r>
          </a:p>
          <a:p>
            <a:pPr lvl="0"/>
            <a:endParaRPr lang="en-IN" dirty="0">
              <a:highlight>
                <a:srgbClr val="00FF00"/>
              </a:highlight>
            </a:endParaRPr>
          </a:p>
          <a:p>
            <a:pPr lvl="0"/>
            <a:r>
              <a:rPr lang="en-IN" b="1" dirty="0">
                <a:highlight>
                  <a:srgbClr val="00FF00"/>
                </a:highlight>
              </a:rPr>
              <a:t>Connect to Wi-Fi:</a:t>
            </a:r>
            <a:r>
              <a:rPr lang="en-IN" dirty="0">
                <a:highlight>
                  <a:srgbClr val="00FF00"/>
                </a:highlight>
              </a:rPr>
              <a:t> Navigate to the network or wireless settings menu on the printer's LCD screen, select </a:t>
            </a:r>
            <a:r>
              <a:rPr lang="en-IN" b="1" dirty="0">
                <a:highlight>
                  <a:srgbClr val="00FF00"/>
                </a:highlight>
              </a:rPr>
              <a:t>Wi-Fi Setup Wizard</a:t>
            </a:r>
            <a:r>
              <a:rPr lang="en-IN" dirty="0">
                <a:highlight>
                  <a:srgbClr val="00FF00"/>
                </a:highlight>
              </a:rPr>
              <a:t>, choose your home Wi-Fi network name (SSID), and enter the correct Wi-Fi password using the on-screen keypad.</a:t>
            </a:r>
          </a:p>
          <a:p>
            <a:pPr lvl="0"/>
            <a:r>
              <a:rPr lang="en-IN" i="1" dirty="0">
                <a:highlight>
                  <a:srgbClr val="00FF00"/>
                </a:highlight>
              </a:rPr>
              <a:t>Verification:</a:t>
            </a:r>
            <a:r>
              <a:rPr lang="en-IN" dirty="0">
                <a:highlight>
                  <a:srgbClr val="00FF00"/>
                </a:highlight>
              </a:rPr>
              <a:t> Confirm that the printer's wireless icon stops blinking and stays solid, indicating a successful connection to your local router.</a:t>
            </a:r>
          </a:p>
          <a:p>
            <a:pPr lvl="0"/>
            <a:endParaRPr lang="en-IN" dirty="0">
              <a:highlight>
                <a:srgbClr val="00FF00"/>
              </a:highlight>
            </a:endParaRPr>
          </a:p>
          <a:p>
            <a:pPr lvl="0"/>
            <a:r>
              <a:rPr lang="en-IN" b="1" dirty="0">
                <a:highlight>
                  <a:srgbClr val="00FF00"/>
                </a:highlight>
              </a:rPr>
              <a:t>Install Drivers and Add Device on Computer:</a:t>
            </a:r>
            <a:r>
              <a:rPr lang="en-IN" dirty="0">
                <a:highlight>
                  <a:srgbClr val="00FF00"/>
                </a:highlight>
              </a:rPr>
              <a:t> On your laptop or PC, go to </a:t>
            </a:r>
            <a:r>
              <a:rPr lang="en-IN" b="1" dirty="0">
                <a:highlight>
                  <a:srgbClr val="00FF00"/>
                </a:highlight>
              </a:rPr>
              <a:t>Settings &gt; Bluetooth &amp; devices &gt; Printers &amp; scanners</a:t>
            </a:r>
            <a:r>
              <a:rPr lang="en-IN" dirty="0">
                <a:highlight>
                  <a:srgbClr val="00FF00"/>
                </a:highlight>
              </a:rPr>
              <a:t>, click </a:t>
            </a:r>
            <a:r>
              <a:rPr lang="en-IN" b="1" dirty="0">
                <a:highlight>
                  <a:srgbClr val="00FF00"/>
                </a:highlight>
              </a:rPr>
              <a:t>Add device</a:t>
            </a:r>
            <a:r>
              <a:rPr lang="en-IN" dirty="0">
                <a:highlight>
                  <a:srgbClr val="00FF00"/>
                </a:highlight>
              </a:rPr>
              <a:t>, and select your printer model from the detected network list. Alternatively, download and run the official setup package from the manufacturer's website.</a:t>
            </a:r>
          </a:p>
          <a:p>
            <a:pPr lvl="0"/>
            <a:r>
              <a:rPr lang="en-IN" i="1" dirty="0">
                <a:highlight>
                  <a:srgbClr val="00FF00"/>
                </a:highlight>
              </a:rPr>
              <a:t>Verification:</a:t>
            </a:r>
            <a:r>
              <a:rPr lang="en-IN" dirty="0">
                <a:highlight>
                  <a:srgbClr val="00FF00"/>
                </a:highlight>
              </a:rPr>
              <a:t> Open any document, press </a:t>
            </a:r>
            <a:r>
              <a:rPr lang="en-IN" dirty="0">
                <a:highlight>
                  <a:srgbClr val="00FF00"/>
                </a:highlight>
                <a:latin typeface="+mn-lt"/>
              </a:rPr>
              <a:t>Ctrl + P</a:t>
            </a:r>
            <a:r>
              <a:rPr lang="en-IN" dirty="0">
                <a:highlight>
                  <a:srgbClr val="00FF00"/>
                </a:highlight>
              </a:rPr>
              <a:t>, verify that your printer appears as "Ready" in the drop-down list, and print a test page.</a:t>
            </a:r>
          </a:p>
        </p:txBody>
      </p:sp>
      <p:sp>
        <p:nvSpPr>
          <p:cNvPr id="5" name="TextBox 4">
            <a:extLst>
              <a:ext uri="{FF2B5EF4-FFF2-40B4-BE49-F238E27FC236}">
                <a16:creationId xmlns:a16="http://schemas.microsoft.com/office/drawing/2014/main" id="{66D3EB51-6F40-1806-341C-A43AE2E76992}"/>
              </a:ext>
            </a:extLst>
          </p:cNvPr>
          <p:cNvSpPr txBox="1"/>
          <p:nvPr/>
        </p:nvSpPr>
        <p:spPr>
          <a:xfrm>
            <a:off x="3341915" y="0"/>
            <a:ext cx="6096000" cy="461665"/>
          </a:xfrm>
          <a:prstGeom prst="rect">
            <a:avLst/>
          </a:prstGeom>
          <a:noFill/>
        </p:spPr>
        <p:txBody>
          <a:bodyPr wrap="square">
            <a:spAutoFit/>
          </a:bodyPr>
          <a:lstStyle/>
          <a:p>
            <a:r>
              <a:rPr lang="en-IN" sz="2400" dirty="0">
                <a:solidFill>
                  <a:schemeClr val="tx2">
                    <a:lumMod val="50000"/>
                    <a:lumOff val="50000"/>
                  </a:schemeClr>
                </a:solidFill>
                <a:highlight>
                  <a:srgbClr val="FFFF00"/>
                </a:highlight>
              </a:rPr>
              <a:t>Step-by-Step Guide to Connect</a:t>
            </a:r>
          </a:p>
        </p:txBody>
      </p:sp>
    </p:spTree>
    <p:extLst>
      <p:ext uri="{BB962C8B-B14F-4D97-AF65-F5344CB8AC3E}">
        <p14:creationId xmlns:p14="http://schemas.microsoft.com/office/powerpoint/2010/main" val="133742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701</Words>
  <Application>Microsoft Office PowerPoint</Application>
  <PresentationFormat>Widescreen</PresentationFormat>
  <Paragraphs>62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Mayur shrimali</dc:creator>
  <cp:lastModifiedBy>Mayur shrimali</cp:lastModifiedBy>
  <cp:revision>1</cp:revision>
  <dcterms:created xsi:type="dcterms:W3CDTF">2026-10-14T02:39:32Z</dcterms:created>
  <dcterms:modified xsi:type="dcterms:W3CDTF">2026-10-14T03:00:56Z</dcterms:modified>
</cp:coreProperties>
</file>